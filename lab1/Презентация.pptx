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gtofobe" initials="R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81D1D8-8919-4FED-BC73-B33F8442779F}">
  <a:tblStyle styleId="{F881D1D8-8919-4FED-BC73-B33F8442779F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09T19:27:46" idx="1">
    <p:pos x="6000" y="0"/>
    <p:text>Предметная область — процесс погашения кредитной задолженности заемщиками банка.
В кредитном отделе ведётся учет кредитных договоров и платежей заемщиков.
Проблемы текущего состояния:
Отсутствие единой системы учета выплат;
Сложный поиск договоров;
Неудобный контроль задолженностей и начислений пени.</p:text>
    <p:extLst>
      <p:ext uri="{19B8F6BF-5375-455C-9EA6-DF929625EA0E}">
        <p15:presenceInfo xmlns:p15="http://schemas.microsoft.com/office/powerpoint/2012/main" xmlns:w="http://schemas.openxmlformats.org/wordprocessingml/2006/main" xmlns:m="http://schemas.openxmlformats.org/officeDocument/2006/math" xmlns="" userId="teamlab_data:0;1;0;1;8;Rgtofobe;2;1;0;4;38;{000100CD-00CB-44CD-BEB2-0005001900E1};" providerId="AD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09T19:47:49" idx="2">
    <p:pos x="6000" y="0"/>
    <p:text>Методология:
Метод контекстных диаграмм (DFD — Data Flow Diagram).
Средства проектирования:
CASE-средство CA ERwin Process Modeler (или аналог — Draw.io, Lucidchart).
Подход:
Построение диаграмм потоков данных.
Выявление связей между внешними сущностями, процессами и накопителями данных.
Анализ потоков входных и выходных данных.</p:text>
    <p:extLst>
      <p:ext uri="{19B8F6BF-5375-455C-9EA6-DF929625EA0E}">
        <p15:presenceInfo xmlns:p15="http://schemas.microsoft.com/office/powerpoint/2012/main" xmlns:w="http://schemas.openxmlformats.org/wordprocessingml/2006/main" xmlns:m="http://schemas.openxmlformats.org/officeDocument/2006/math" xmlns="" userId="teamlab_data:0;1;0;1;8;Rgtofobe;2;1;0;4;38;{00320093-0034-4663-B551-00440009002C};" providerId="AD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732901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5962101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152618" name="Google Shape;197;g38ac66d765c_6_12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13802337" name="Google Shape;198;g38ac66d765c_6_12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433434" name="Google Shape;204;g38ac66d765c_6_15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47195779" name="Google Shape;205;g38ac66d765c_6_159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325861" name="Google Shape;212;g38ac66d765c_6_13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74828436" name="Google Shape;213;g38ac66d765c_6_139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380348" name="Google Shape;222;g38ac66d765c_6_15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7398597" name="Google Shape;223;g38ac66d765c_6_154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56372" name="Google Shape;236;g38ad8432639_2_18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557165" name="Google Shape;237;g38ad8432639_2_1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809738" name="Google Shape;250;g38ac66d765c_6_16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11273530" name="Google Shape;251;g38ac66d765c_6_165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741369" name="Google Shape;265;g38ad8432639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5205022" name="Google Shape;266;g38ad8432639_2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479918" name="Google Shape;258;g38ad8432639_1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411320" name="Google Shape;259;g38ad8432639_1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422278" name="Google Shape;273;g38ad8432639_2_4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253344" name="Google Shape;274;g38ad8432639_2_4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560760" name="Google Shape;280;g38ac66d765c_6_21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88935013" name="Google Shape;281;g38ac66d765c_6_21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201920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828339115" name="Google Shape;11;p2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963628184" name="Google Shape;12;p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header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304918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902547717" name="Google Shape;15;p3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body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060132" name="Google Shape;17;p4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9499743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0151439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two columns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346889" name="Google Shape;21;p5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8503823" name="Google Shape;22;p5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131601526" name="Google Shape;23;p5"/>
          <p:cNvSpPr txBox="1">
            <a:spLocks noGrp="1"/>
          </p:cNvSpPr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17721734" name="Google Shape;24;p5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986702" name="Google Shape;26;p6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6339278" name="Google Shape;27;p6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One column text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473127" name="Google Shape;29;p7"/>
          <p:cNvSpPr txBox="1">
            <a:spLocks noGrp="1"/>
          </p:cNvSpPr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810843977" name="Google Shape;30;p7"/>
          <p:cNvSpPr txBox="1">
            <a:spLocks noGrp="1"/>
          </p:cNvSpPr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064982534" name="Google Shape;31;p7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Main point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015803" name="Google Shape;33;p8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946501169" name="Google Shape;34;p8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title and description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75475" name="Google Shape;36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57209244" name="Google Shape;37;p9"/>
          <p:cNvSpPr txBox="1">
            <a:spLocks noGrp="1"/>
          </p:cNvSpPr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1409190037" name="Google Shape;38;p9"/>
          <p:cNvSpPr txBox="1">
            <a:spLocks noGrp="1"/>
          </p:cNvSpPr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262019582" name="Google Shape;39;p9"/>
          <p:cNvSpPr txBox="1">
            <a:spLocks noGrp="1"/>
          </p:cNvSpPr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5871801" name="Google Shape;40;p9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aption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991035" name="Google Shape;42;p10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95769671" name="Google Shape;43;p10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ig number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010936" name="Google Shape;45;p11"/>
          <p:cNvSpPr txBox="1">
            <a:spLocks noGrp="1"/>
          </p:cNvSpPr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1388434001" name="Google Shape;46;p11"/>
          <p:cNvSpPr txBox="1">
            <a:spLocks noGrp="1"/>
          </p:cNvSpPr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9952384" name="Google Shape;47;p1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955940" name="Google Shape;49;p1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_Title Slide" userDrawn="1">
  <p:cSld name="1_Title Slide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56322" name="Google Shape;57;p14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8694730" name="Google Shape;58;p14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665120" name="Google Shape;59;p14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876703" name="Google Shape;60;p14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6592153" name="Google Shape;61;p14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3459776" name="Google Shape;62;p14"/>
          <p:cNvSpPr txBox="1">
            <a:spLocks noGrp="1"/>
          </p:cNvSpPr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487921602" name="Google Shape;63;p14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3_Custom Layout" userDrawn="1">
  <p:cSld name="3_Custom Layout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781875" name="Google Shape;65;p15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93787275" name="Google Shape;66;p15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6024643" name="Google Shape;67;p15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5_Пользовательский макет" userDrawn="1">
  <p:cSld name="5_Пользовательский макет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159513" name="Google Shape;69;p16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  <a:noFill/>
          <a:ln>
            <a:noFill/>
          </a:ln>
        </p:spPr>
      </p:sp>
      <p:sp>
        <p:nvSpPr>
          <p:cNvPr id="998098703" name="Google Shape;70;p16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6066998" name="Google Shape;71;p16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9320777" name="Google Shape;72;p16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_Custom Layout" userDrawn="1">
  <p:cSld name="1_Custom Layout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357819" name="Google Shape;74;p17"/>
          <p:cNvSpPr txBox="1">
            <a:spLocks noGrp="1"/>
          </p:cNvSpPr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2629239" name="Google Shape;75;p17"/>
          <p:cNvSpPr txBox="1">
            <a:spLocks noGrp="1"/>
          </p:cNvSpPr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2886017" name="Google Shape;76;p17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7806905" name="Google Shape;77;p17"/>
          <p:cNvSpPr txBox="1">
            <a:spLocks noGrp="1"/>
          </p:cNvSpPr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3675121" name="Google Shape;78;p17"/>
          <p:cNvSpPr txBox="1">
            <a:spLocks noGrp="1"/>
          </p:cNvSpPr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470210" name="Google Shape;79;p17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9_Пользовательский макет" userDrawn="1">
  <p:cSld name="9_Пользовательский макет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365710" name="Google Shape;81;p18"/>
          <p:cNvSpPr txBox="1">
            <a:spLocks noGrp="1"/>
          </p:cNvSpPr>
          <p:nvPr>
            <p:ph type="body" idx="1"/>
          </p:nvPr>
        </p:nvSpPr>
        <p:spPr bwMode="auto"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8575436" name="Google Shape;82;p18"/>
          <p:cNvSpPr txBox="1">
            <a:spLocks noGrp="1"/>
          </p:cNvSpPr>
          <p:nvPr>
            <p:ph type="body" idx="2"/>
          </p:nvPr>
        </p:nvSpPr>
        <p:spPr bwMode="auto"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3421662" name="Google Shape;83;p18"/>
          <p:cNvSpPr txBox="1">
            <a:spLocks noGrp="1"/>
          </p:cNvSpPr>
          <p:nvPr>
            <p:ph type="body" idx="3"/>
          </p:nvPr>
        </p:nvSpPr>
        <p:spPr bwMode="auto"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361438" name="Google Shape;84;p18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88779549" name="Google Shape;85;p18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kfql" userDrawn="1">
  <p:cSld name="Ckfql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548492" name="Google Shape;87;p19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1366792" name="Google Shape;88;p19"/>
          <p:cNvSpPr txBox="1">
            <a:spLocks noGrp="1"/>
          </p:cNvSpPr>
          <p:nvPr>
            <p:ph type="body" idx="1"/>
          </p:nvPr>
        </p:nvSpPr>
        <p:spPr bwMode="auto"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982401349" name="Google Shape;89;p19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5_Custom Layout" userDrawn="1">
  <p:cSld name="5_Custom Layout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594876" name="Google Shape;91;p20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  <a:noFill/>
          <a:ln>
            <a:noFill/>
          </a:ln>
        </p:spPr>
      </p:sp>
      <p:sp>
        <p:nvSpPr>
          <p:cNvPr id="271737403" name="Google Shape;92;p20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1050868" name="Google Shape;93;p20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4502267" name="Google Shape;94;p20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6_Custom Layout" userDrawn="1">
  <p:cSld name="6_Custom Layout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6431" name="Google Shape;96;p21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9417732" name="Google Shape;97;p21"/>
          <p:cNvSpPr txBox="1">
            <a:spLocks noGrp="1"/>
          </p:cNvSpPr>
          <p:nvPr>
            <p:ph type="body" idx="1"/>
          </p:nvPr>
        </p:nvSpPr>
        <p:spPr bwMode="auto"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3148242" name="Google Shape;98;p21"/>
          <p:cNvSpPr>
            <a:spLocks noGrp="1"/>
          </p:cNvSpPr>
          <p:nvPr>
            <p:ph type="pic" idx="2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946223607" name="Google Shape;99;p21"/>
          <p:cNvSpPr>
            <a:spLocks noGrp="1"/>
          </p:cNvSpPr>
          <p:nvPr>
            <p:ph type="pic" idx="3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510282510" name="Google Shape;100;p21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4_Custom Layout" userDrawn="1">
  <p:cSld name="4_Custom Layout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043009" name="Google Shape;102;p22"/>
          <p:cNvSpPr txBox="1">
            <a:spLocks noGrp="1"/>
          </p:cNvSpPr>
          <p:nvPr>
            <p:ph type="body" idx="1"/>
          </p:nvPr>
        </p:nvSpPr>
        <p:spPr bwMode="auto"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3776679" name="Google Shape;103;p22"/>
          <p:cNvSpPr txBox="1">
            <a:spLocks noGrp="1"/>
          </p:cNvSpPr>
          <p:nvPr>
            <p:ph type="body" idx="2"/>
          </p:nvPr>
        </p:nvSpPr>
        <p:spPr bwMode="auto"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3570675" name="Google Shape;104;p22"/>
          <p:cNvSpPr txBox="1">
            <a:spLocks noGrp="1"/>
          </p:cNvSpPr>
          <p:nvPr>
            <p:ph type="body" idx="3"/>
          </p:nvPr>
        </p:nvSpPr>
        <p:spPr bwMode="auto"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76694133" name="Google Shape;105;p22"/>
          <p:cNvSpPr txBox="1">
            <a:spLocks noGrp="1"/>
          </p:cNvSpPr>
          <p:nvPr>
            <p:ph type="body" idx="4"/>
          </p:nvPr>
        </p:nvSpPr>
        <p:spPr bwMode="auto"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964045558" name="Google Shape;106;p22"/>
          <p:cNvSpPr txBox="1">
            <a:spLocks noGrp="1"/>
          </p:cNvSpPr>
          <p:nvPr>
            <p:ph type="body" idx="5"/>
          </p:nvPr>
        </p:nvSpPr>
        <p:spPr bwMode="auto"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652076326" name="Google Shape;107;p22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3820855" name="Google Shape;108;p22"/>
          <p:cNvSpPr txBox="1">
            <a:spLocks noGrp="1"/>
          </p:cNvSpPr>
          <p:nvPr>
            <p:ph type="body" idx="6"/>
          </p:nvPr>
        </p:nvSpPr>
        <p:spPr bwMode="auto"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785636044" name="Google Shape;109;p22"/>
          <p:cNvSpPr>
            <a:spLocks noGrp="1"/>
          </p:cNvSpPr>
          <p:nvPr>
            <p:ph type="pic" idx="7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555269125" name="Google Shape;110;p22"/>
          <p:cNvSpPr>
            <a:spLocks noGrp="1"/>
          </p:cNvSpPr>
          <p:nvPr>
            <p:ph type="pic" idx="8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  <a:noFill/>
          <a:ln>
            <a:noFill/>
          </a:ln>
        </p:spPr>
      </p:sp>
      <p:sp>
        <p:nvSpPr>
          <p:cNvPr id="1071928" name="Google Shape;111;p22"/>
          <p:cNvSpPr>
            <a:spLocks noGrp="1"/>
          </p:cNvSpPr>
          <p:nvPr>
            <p:ph type="pic" idx="9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  <a:noFill/>
          <a:ln>
            <a:noFill/>
          </a:ln>
        </p:spPr>
      </p:sp>
      <p:sp>
        <p:nvSpPr>
          <p:cNvPr id="1226832326" name="Google Shape;112;p22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8_Custom Layout" userDrawn="1">
  <p:cSld name="8_Custom Layout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453380" name="Google Shape;114;p23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0793182" name="Google Shape;115;p23"/>
          <p:cNvSpPr txBox="1">
            <a:spLocks noGrp="1"/>
          </p:cNvSpPr>
          <p:nvPr>
            <p:ph type="body" idx="1"/>
          </p:nvPr>
        </p:nvSpPr>
        <p:spPr bwMode="auto"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1835655" name="Google Shape;116;p23"/>
          <p:cNvSpPr>
            <a:spLocks noGrp="1"/>
          </p:cNvSpPr>
          <p:nvPr>
            <p:ph type="pic" idx="2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506227192" name="Google Shape;117;p23"/>
          <p:cNvSpPr>
            <a:spLocks noGrp="1"/>
          </p:cNvSpPr>
          <p:nvPr>
            <p:ph type="pic" idx="3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</p:sp>
      <p:sp>
        <p:nvSpPr>
          <p:cNvPr id="7776767" name="Google Shape;118;p23"/>
          <p:cNvSpPr>
            <a:spLocks noGrp="1"/>
          </p:cNvSpPr>
          <p:nvPr>
            <p:ph type="pic" idx="4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  <a:noFill/>
          <a:ln>
            <a:noFill/>
          </a:ln>
        </p:spPr>
      </p:sp>
      <p:sp>
        <p:nvSpPr>
          <p:cNvPr id="1890995763" name="Google Shape;119;p23"/>
          <p:cNvSpPr>
            <a:spLocks noGrp="1"/>
          </p:cNvSpPr>
          <p:nvPr>
            <p:ph type="pic" idx="5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  <a:noFill/>
          <a:ln>
            <a:noFill/>
          </a:ln>
        </p:spPr>
      </p:sp>
      <p:sp>
        <p:nvSpPr>
          <p:cNvPr id="1739416506" name="Google Shape;120;p23"/>
          <p:cNvSpPr>
            <a:spLocks noGrp="1"/>
          </p:cNvSpPr>
          <p:nvPr>
            <p:ph type="pic" idx="6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  <a:noFill/>
          <a:ln>
            <a:noFill/>
          </a:ln>
        </p:spPr>
      </p:sp>
      <p:sp>
        <p:nvSpPr>
          <p:cNvPr id="543897252" name="Google Shape;121;p23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0_Custom Layout" userDrawn="1">
  <p:cSld name="10_Custom Layout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474749" name="Google Shape;123;p24"/>
          <p:cNvSpPr txBox="1">
            <a:spLocks noGrp="1"/>
          </p:cNvSpPr>
          <p:nvPr>
            <p:ph type="body" idx="1"/>
          </p:nvPr>
        </p:nvSpPr>
        <p:spPr bwMode="auto"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9464797" name="Google Shape;124;p24"/>
          <p:cNvSpPr txBox="1">
            <a:spLocks noGrp="1"/>
          </p:cNvSpPr>
          <p:nvPr>
            <p:ph type="body" idx="2"/>
          </p:nvPr>
        </p:nvSpPr>
        <p:spPr bwMode="auto"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5677784" name="Google Shape;125;p24"/>
          <p:cNvSpPr txBox="1">
            <a:spLocks noGrp="1"/>
          </p:cNvSpPr>
          <p:nvPr>
            <p:ph type="body" idx="3"/>
          </p:nvPr>
        </p:nvSpPr>
        <p:spPr bwMode="auto"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1863568" name="Google Shape;126;p24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7848885" name="Google Shape;127;p24"/>
          <p:cNvSpPr>
            <a:spLocks noGrp="1"/>
          </p:cNvSpPr>
          <p:nvPr>
            <p:ph type="pic" idx="4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  <a:noFill/>
          <a:ln>
            <a:noFill/>
          </a:ln>
        </p:spPr>
      </p:sp>
      <p:sp>
        <p:nvSpPr>
          <p:cNvPr id="1429002599" name="Google Shape;128;p24"/>
          <p:cNvSpPr>
            <a:spLocks noGrp="1"/>
          </p:cNvSpPr>
          <p:nvPr>
            <p:ph type="pic" idx="5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  <a:noFill/>
          <a:ln>
            <a:noFill/>
          </a:ln>
        </p:spPr>
      </p:sp>
      <p:sp>
        <p:nvSpPr>
          <p:cNvPr id="1642711980" name="Google Shape;129;p24"/>
          <p:cNvSpPr>
            <a:spLocks noGrp="1"/>
          </p:cNvSpPr>
          <p:nvPr>
            <p:ph type="pic" idx="6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  <a:noFill/>
          <a:ln>
            <a:noFill/>
          </a:ln>
        </p:spPr>
      </p:sp>
      <p:sp>
        <p:nvSpPr>
          <p:cNvPr id="1757834183" name="Google Shape;130;p24"/>
          <p:cNvSpPr txBox="1">
            <a:spLocks noGrp="1"/>
          </p:cNvSpPr>
          <p:nvPr>
            <p:ph type="body" idx="7"/>
          </p:nvPr>
        </p:nvSpPr>
        <p:spPr bwMode="auto">
          <a:xfrm>
            <a:off x="460351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815942" name="Google Shape;131;p24"/>
          <p:cNvSpPr txBox="1">
            <a:spLocks noGrp="1"/>
          </p:cNvSpPr>
          <p:nvPr>
            <p:ph type="body" idx="8"/>
          </p:nvPr>
        </p:nvSpPr>
        <p:spPr bwMode="auto"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1711475" name="Google Shape;132;p24"/>
          <p:cNvSpPr txBox="1">
            <a:spLocks noGrp="1"/>
          </p:cNvSpPr>
          <p:nvPr>
            <p:ph type="body" idx="9"/>
          </p:nvPr>
        </p:nvSpPr>
        <p:spPr bwMode="auto"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6902739" name="Google Shape;133;p24"/>
          <p:cNvSpPr>
            <a:spLocks noGrp="1"/>
          </p:cNvSpPr>
          <p:nvPr>
            <p:ph type="pic" idx="13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  <a:noFill/>
          <a:ln>
            <a:noFill/>
          </a:ln>
        </p:spPr>
      </p:sp>
      <p:sp>
        <p:nvSpPr>
          <p:cNvPr id="964398278" name="Google Shape;134;p24"/>
          <p:cNvSpPr>
            <a:spLocks noGrp="1"/>
          </p:cNvSpPr>
          <p:nvPr>
            <p:ph type="pic" idx="14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  <a:noFill/>
          <a:ln>
            <a:noFill/>
          </a:ln>
        </p:spPr>
      </p:sp>
      <p:sp>
        <p:nvSpPr>
          <p:cNvPr id="1030869932" name="Google Shape;135;p24"/>
          <p:cNvSpPr>
            <a:spLocks noGrp="1"/>
          </p:cNvSpPr>
          <p:nvPr>
            <p:ph type="pic" idx="15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  <a:noFill/>
          <a:ln>
            <a:noFill/>
          </a:ln>
        </p:spPr>
      </p:sp>
      <p:sp>
        <p:nvSpPr>
          <p:cNvPr id="185926578" name="Google Shape;136;p24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Финал" userDrawn="1">
  <p:cSld name="Финал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056598" name="Google Shape;138;p25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4318315" name="Google Shape;139;p25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1848651" name="Google Shape;140;p25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ользовательский макет" userDrawn="1">
  <p:cSld name="Пользовательский маке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60549" name="Google Shape;142;p26"/>
          <p:cNvSpPr txBox="1">
            <a:spLocks noGrp="1"/>
          </p:cNvSpPr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1361968" name="Google Shape;143;p26"/>
          <p:cNvSpPr txBox="1">
            <a:spLocks noGrp="1"/>
          </p:cNvSpPr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57008701" name="Google Shape;144;p26"/>
          <p:cNvSpPr txBox="1">
            <a:spLocks noGrp="1"/>
          </p:cNvSpPr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6956464" name="Google Shape;145;p26"/>
          <p:cNvSpPr txBox="1">
            <a:spLocks noGrp="1"/>
          </p:cNvSpPr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2599799" name="Google Shape;146;p26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3891913" name="Google Shape;147;p26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6_Пользовательский макет" userDrawn="1">
  <p:cSld name="6_Пользовательский маке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25662" name="Google Shape;149;p27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3436744" name="Google Shape;150;p27"/>
          <p:cNvSpPr txBox="1">
            <a:spLocks noGrp="1"/>
          </p:cNvSpPr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847725286" name="Google Shape;151;p27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9_Custom Layout" userDrawn="1">
  <p:cSld name="9_Custom Layout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683340" name="Google Shape;153;p28"/>
          <p:cNvSpPr txBox="1">
            <a:spLocks noGrp="1"/>
          </p:cNvSpPr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7033918" name="Google Shape;154;p28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2026970" name="Google Shape;155;p28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3_Пользовательский макет" userDrawn="1">
  <p:cSld name="3_Пользовательский маке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02570" name="Google Shape;157;p29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3916931" name="Google Shape;158;p29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  <a:noFill/>
          <a:ln>
            <a:noFill/>
          </a:ln>
        </p:spPr>
      </p:sp>
      <p:sp>
        <p:nvSpPr>
          <p:cNvPr id="1387268732" name="Google Shape;159;p29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4107982" name="Google Shape;160;p29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7_Пользовательский макет" userDrawn="1">
  <p:cSld name="7_Пользовательский маке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195825" name="Google Shape;162;p30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17606" name="Google Shape;163;p30"/>
          <p:cNvSpPr txBox="1">
            <a:spLocks noGrp="1"/>
          </p:cNvSpPr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411152430" name="Google Shape;164;p30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_Пользовательский макет" userDrawn="1">
  <p:cSld name="1_Пользовательский маке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648120" name="Google Shape;166;p31"/>
          <p:cNvSpPr txBox="1">
            <a:spLocks noGrp="1"/>
          </p:cNvSpPr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7761479" name="Google Shape;167;p31"/>
          <p:cNvSpPr txBox="1">
            <a:spLocks noGrp="1"/>
          </p:cNvSpPr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3485346" name="Google Shape;168;p31"/>
          <p:cNvSpPr txBox="1">
            <a:spLocks noGrp="1"/>
          </p:cNvSpPr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1442310" name="Google Shape;169;p31"/>
          <p:cNvSpPr txBox="1">
            <a:spLocks noGrp="1"/>
          </p:cNvSpPr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0158427" name="Google Shape;170;p31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3916709" name="Google Shape;171;p31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4_Пользовательский макет" userDrawn="1">
  <p:cSld name="4_Пользовательский маке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785717" name="Google Shape;173;p32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18783" name="Google Shape;174;p32"/>
          <p:cNvSpPr>
            <a:spLocks noGrp="1"/>
          </p:cNvSpPr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1051781725" name="Google Shape;175;p32"/>
          <p:cNvSpPr txBox="1">
            <a:spLocks noGrp="1"/>
          </p:cNvSpPr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415837" name="Google Shape;176;p32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8_Пользовательский макет" userDrawn="1">
  <p:cSld name="8_Пользовательский маке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184242" name="Google Shape;178;p33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8099580" name="Google Shape;179;p33"/>
          <p:cNvSpPr txBox="1">
            <a:spLocks noGrp="1"/>
          </p:cNvSpPr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83453747" name="Google Shape;180;p33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2_Пользовательский макет" userDrawn="1">
  <p:cSld name="2_Пользовательский маке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977783" name="Google Shape;182;p34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1216840" name="Google Shape;183;p34"/>
          <p:cNvSpPr txBox="1">
            <a:spLocks noGrp="1"/>
          </p:cNvSpPr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3033880" name="Google Shape;184;p34"/>
          <p:cNvSpPr txBox="1">
            <a:spLocks noGrp="1"/>
          </p:cNvSpPr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6501761" name="Google Shape;185;p34"/>
          <p:cNvSpPr txBox="1">
            <a:spLocks noGrp="1"/>
          </p:cNvSpPr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4394831" name="Google Shape;186;p34"/>
          <p:cNvSpPr txBox="1">
            <a:spLocks noGrp="1"/>
          </p:cNvSpPr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87683495" name="Google Shape;187;p34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7_Custom Layout" userDrawn="1">
  <p:cSld name="7_Custom Layout"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130096" name="Google Shape;189;p35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0586561" name="Google Shape;190;p35"/>
          <p:cNvSpPr txBox="1">
            <a:spLocks noGrp="1"/>
          </p:cNvSpPr>
          <p:nvPr>
            <p:ph type="body" idx="1"/>
          </p:nvPr>
        </p:nvSpPr>
        <p:spPr bwMode="auto">
          <a:xfrm>
            <a:off x="5733143" y="949329"/>
            <a:ext cx="2895600" cy="389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4516317" name="Google Shape;191;p35"/>
          <p:cNvSpPr>
            <a:spLocks noGrp="1"/>
          </p:cNvSpPr>
          <p:nvPr>
            <p:ph type="pic" idx="2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827098700" name="Google Shape;192;p35"/>
          <p:cNvSpPr>
            <a:spLocks noGrp="1"/>
          </p:cNvSpPr>
          <p:nvPr>
            <p:ph type="pic" idx="3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  <a:noFill/>
          <a:ln>
            <a:noFill/>
          </a:ln>
        </p:spPr>
      </p:sp>
      <p:sp>
        <p:nvSpPr>
          <p:cNvPr id="1557959761" name="Google Shape;193;p35"/>
          <p:cNvSpPr>
            <a:spLocks noGrp="1"/>
          </p:cNvSpPr>
          <p:nvPr>
            <p:ph type="pic" idx="4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704354740" name="Google Shape;194;p35"/>
          <p:cNvSpPr>
            <a:spLocks noGrp="1"/>
          </p:cNvSpPr>
          <p:nvPr>
            <p:ph type="pic" idx="5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430345629" name="Google Shape;195;p35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482601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64525952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28986910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20665" name="Google Shape;51;p13"/>
          <p:cNvSpPr txBox="1"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810768636" name="Google Shape;52;p13"/>
          <p:cNvSpPr txBox="1"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1pPr>
            <a:lvl2pPr marL="914400" marR="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2pPr>
            <a:lvl3pPr marL="1371600" marR="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3pPr>
            <a:lvl4pPr marL="1828800" marR="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4pPr>
            <a:lvl5pPr marL="2286000" marR="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79016088" name="Google Shape;53;p1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0739663" name="Google Shape;54;p1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7917880" name="Google Shape;55;p13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091364" name="Google Shape;200;p36"/>
          <p:cNvSpPr txBox="1">
            <a:spLocks noGrp="1"/>
          </p:cNvSpPr>
          <p:nvPr>
            <p:ph type="title"/>
          </p:nvPr>
        </p:nvSpPr>
        <p:spPr bwMode="auto">
          <a:xfrm>
            <a:off x="1371600" y="2219324"/>
            <a:ext cx="6465848" cy="99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  <a:defRPr/>
            </a:pPr>
            <a:r>
              <a:rPr lang="ru" sz="2100" b="1" i="0" u="none" strike="noStrike" cap="none" spc="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rPr>
              <a:t>Проектирование функциональной модели </a:t>
            </a:r>
            <a:r>
              <a:rPr lang="ru-RU" sz="2100" b="1" i="0" u="none" strike="noStrike" cap="none" spc="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rPr>
              <a:t>АИС</a:t>
            </a:r>
            <a:r>
              <a:rPr lang="ru" sz="2100" b="1" i="0" u="none" strike="noStrike" cap="none" spc="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rPr>
              <a:t> </a:t>
            </a:r>
            <a:r>
              <a:rPr lang="ru-RU" sz="2100" b="1" i="0" u="none" strike="noStrike" cap="none" spc="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rPr>
              <a:t>для </a:t>
            </a:r>
            <a:r>
              <a:rPr lang="ru" sz="2100" b="1" i="0" u="none" strike="noStrike" cap="none" spc="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rPr>
              <a:t>управления кредитной задолженностью банка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694584597" name="Google Shape;201;p36"/>
          <p:cNvSpPr txBox="1"/>
          <p:nvPr/>
        </p:nvSpPr>
        <p:spPr bwMode="auto">
          <a:xfrm>
            <a:off x="5047425" y="4160625"/>
            <a:ext cx="4096800" cy="9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Выполнили:</a:t>
            </a:r>
            <a:b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</a:br>
            <a: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Малыхин Никита Сергеевич К3241 </a:t>
            </a:r>
            <a:b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</a:br>
            <a: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Чекушин Владислав Сергеевич К3241</a:t>
            </a:r>
            <a:endParaRPr sz="1600">
              <a:solidFill>
                <a:schemeClr val="lt1"/>
              </a:solidFill>
              <a:latin typeface="Golos Text"/>
              <a:ea typeface="Golos Text"/>
              <a:cs typeface="Golos Text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br>
              <a:rPr lang="ru" sz="10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</a:br>
            <a:endParaRPr sz="1900">
              <a:solidFill>
                <a:schemeClr val="dk1"/>
              </a:solidFill>
              <a:latin typeface="Golos Text"/>
              <a:ea typeface="Golos Text"/>
              <a:cs typeface="Golos Text"/>
            </a:endParaRPr>
          </a:p>
        </p:txBody>
      </p:sp>
      <p:sp>
        <p:nvSpPr>
          <p:cNvPr id="1005181038" name="Google Shape;202;p36"/>
          <p:cNvSpPr txBox="1"/>
          <p:nvPr/>
        </p:nvSpPr>
        <p:spPr bwMode="auto">
          <a:xfrm>
            <a:off x="0" y="4345375"/>
            <a:ext cx="3717300" cy="7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Преподаватель: </a:t>
            </a:r>
            <a:endParaRPr sz="1600">
              <a:solidFill>
                <a:schemeClr val="lt1"/>
              </a:solidFill>
              <a:latin typeface="Golos Text"/>
              <a:ea typeface="Golos Text"/>
              <a:cs typeface="Golos Tex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Говорова Марина Михайловна</a:t>
            </a:r>
            <a:endParaRPr sz="2600">
              <a:solidFill>
                <a:schemeClr val="dk1"/>
              </a:solidFill>
              <a:latin typeface="Golos Text"/>
              <a:ea typeface="Golos Text"/>
              <a:cs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403831" name="Google Shape;207;p37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"/>
              <a:t>Описание предметной области</a:t>
            </a:r>
            <a:endParaRPr/>
          </a:p>
        </p:txBody>
      </p:sp>
      <p:pic>
        <p:nvPicPr>
          <p:cNvPr id="1932752825" name="Google Shape;209;p37" descr="Банк Кредит, Потребительский кредит Плоский Вектор Концепция | Премиум  вектор"/>
          <p:cNvPicPr/>
          <p:nvPr/>
        </p:nvPicPr>
        <p:blipFill>
          <a:blip r:embed="rId3">
            <a:alphaModFix/>
          </a:blip>
          <a:srcRect/>
          <a:stretch/>
        </p:blipFill>
        <p:spPr bwMode="auto">
          <a:xfrm>
            <a:off x="582850" y="1268525"/>
            <a:ext cx="4229924" cy="3196075"/>
          </a:xfrm>
          <a:prstGeom prst="rect">
            <a:avLst/>
          </a:prstGeom>
          <a:noFill/>
          <a:ln>
            <a:noFill/>
          </a:ln>
        </p:spPr>
      </p:pic>
      <p:sp>
        <p:nvSpPr>
          <p:cNvPr id="851920035" name="Google Shape;210;p37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2</a:t>
            </a:fld>
            <a:endParaRPr/>
          </a:p>
        </p:txBody>
      </p:sp>
      <p:sp>
        <p:nvSpPr>
          <p:cNvPr id="571784567" name="TextBox 571784566"/>
          <p:cNvSpPr txBox="1"/>
          <p:nvPr/>
        </p:nvSpPr>
        <p:spPr bwMode="auto">
          <a:xfrm>
            <a:off x="5492327" y="1274379"/>
            <a:ext cx="2911120" cy="2834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Процесс погашения кредитной задолженности заемщиком банка</a:t>
            </a:r>
            <a:r>
              <a:rPr lang="en-US" sz="1200"/>
              <a:t>: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Заключение и регистрация кредитного договора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Формирование графика выплат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Ежемесячное внесение платежей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Начисление пени при просрочке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Уведомление заемщиков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sz="12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Проблемы текущей системы: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Отсутствие централизованной базы данных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Ручной контроль платежей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Отсутствие автоматических уведомлений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061988" name="Google Shape;215;p38"/>
          <p:cNvSpPr txBox="1">
            <a:spLocks noGrp="1"/>
          </p:cNvSpPr>
          <p:nvPr>
            <p:ph type="body" idx="1"/>
          </p:nvPr>
        </p:nvSpPr>
        <p:spPr bwMode="auto">
          <a:xfrm>
            <a:off x="508000" y="1692324"/>
            <a:ext cx="3674700" cy="20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38100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Проектирование функциональной модели АИС управления кредитной задолженностью для компании «КредитСофт»</a:t>
            </a:r>
            <a:endParaRPr/>
          </a:p>
          <a:p>
            <a:pPr marL="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pPr>
            <a:endParaRPr/>
          </a:p>
        </p:txBody>
      </p:sp>
      <p:sp>
        <p:nvSpPr>
          <p:cNvPr id="88347436" name="Google Shape;216;p38"/>
          <p:cNvSpPr txBox="1">
            <a:spLocks noGrp="1"/>
          </p:cNvSpPr>
          <p:nvPr>
            <p:ph type="body" idx="2"/>
          </p:nvPr>
        </p:nvSpPr>
        <p:spPr bwMode="auto"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b="1" u="none">
                <a:latin typeface="Arial"/>
                <a:ea typeface="Arial"/>
                <a:cs typeface="Arial"/>
              </a:rPr>
              <a:t>Цель</a:t>
            </a:r>
            <a:endParaRPr sz="2100"/>
          </a:p>
        </p:txBody>
      </p:sp>
      <p:sp>
        <p:nvSpPr>
          <p:cNvPr id="628614028" name="Google Shape;217;p38"/>
          <p:cNvSpPr txBox="1">
            <a:spLocks noGrp="1"/>
          </p:cNvSpPr>
          <p:nvPr>
            <p:ph type="title"/>
          </p:nvPr>
        </p:nvSpPr>
        <p:spPr bwMode="auto">
          <a:xfrm>
            <a:off x="203875" y="145550"/>
            <a:ext cx="70821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/>
            </a:pPr>
            <a:r>
              <a:rPr lang="ru"/>
              <a:t>Цель и задача проекта</a:t>
            </a:r>
            <a:endParaRPr/>
          </a:p>
        </p:txBody>
      </p:sp>
      <p:sp>
        <p:nvSpPr>
          <p:cNvPr id="550369281" name="Google Shape;218;p38"/>
          <p:cNvSpPr txBox="1">
            <a:spLocks noGrp="1"/>
          </p:cNvSpPr>
          <p:nvPr>
            <p:ph type="body" idx="3"/>
          </p:nvPr>
        </p:nvSpPr>
        <p:spPr bwMode="auto">
          <a:xfrm>
            <a:off x="4818612" y="2697324"/>
            <a:ext cx="4143900" cy="223950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compatLnSpc="0">
            <a:normAutofit/>
          </a:bodyPr>
          <a:lstStyle/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Определить назначение ИС</a:t>
            </a:r>
            <a:endParaRPr lang="en-US" sz="12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Выделить основной процесс</a:t>
            </a:r>
            <a:endParaRPr lang="en-US" sz="12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Определить внешние сущности</a:t>
            </a:r>
            <a:endParaRPr lang="en-US" sz="12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Определить потоки данных</a:t>
            </a:r>
            <a:endParaRPr lang="en-US" sz="12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Построить контекстную диаграмму A-0</a:t>
            </a:r>
            <a:endParaRPr lang="en-US" sz="12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Выполнить декомпозицию до уровня A0</a:t>
            </a:r>
            <a:endParaRPr/>
          </a:p>
        </p:txBody>
      </p:sp>
      <p:sp>
        <p:nvSpPr>
          <p:cNvPr id="710355730" name="Google Shape;219;p38"/>
          <p:cNvSpPr txBox="1">
            <a:spLocks noGrp="1"/>
          </p:cNvSpPr>
          <p:nvPr>
            <p:ph type="body" idx="4"/>
          </p:nvPr>
        </p:nvSpPr>
        <p:spPr bwMode="auto">
          <a:xfrm>
            <a:off x="5000175" y="2320328"/>
            <a:ext cx="2961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pPr>
            <a:r>
              <a:rPr lang="ru" u="none"/>
              <a:t>Задачи</a:t>
            </a:r>
            <a:endParaRPr u="none"/>
          </a:p>
        </p:txBody>
      </p:sp>
      <p:sp>
        <p:nvSpPr>
          <p:cNvPr id="1758699008" name="Google Shape;220;p38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3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474107" name="Google Shape;225;p39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"/>
              <a:t>Методы и средства реализации</a:t>
            </a:r>
            <a:endParaRPr/>
          </a:p>
        </p:txBody>
      </p:sp>
      <p:sp>
        <p:nvSpPr>
          <p:cNvPr id="974305867" name="Google Shape;226;p39"/>
          <p:cNvSpPr txBox="1">
            <a:spLocks noGrp="1"/>
          </p:cNvSpPr>
          <p:nvPr>
            <p:ph type="body" idx="1"/>
          </p:nvPr>
        </p:nvSpPr>
        <p:spPr bwMode="auto">
          <a:xfrm>
            <a:off x="457200" y="15075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1115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  <a:defRPr/>
            </a:pPr>
            <a:r>
              <a:rPr lang="ru" sz="1300">
                <a:latin typeface="Arial"/>
                <a:ea typeface="Arial"/>
                <a:cs typeface="Arial"/>
              </a:rPr>
              <a:t>Методология: </a:t>
            </a:r>
            <a:r>
              <a:rPr lang="ru" sz="1300" b="1">
                <a:latin typeface="Arial"/>
                <a:ea typeface="Arial"/>
                <a:cs typeface="Arial"/>
              </a:rPr>
              <a:t>Data Flow Diagrams (DFD)</a:t>
            </a:r>
            <a:br>
              <a:rPr lang="ru" sz="1300" b="1">
                <a:latin typeface="Arial"/>
                <a:ea typeface="Arial"/>
                <a:cs typeface="Arial"/>
              </a:rPr>
            </a:br>
            <a:endParaRPr sz="1300" b="1">
              <a:latin typeface="Arial"/>
              <a:ea typeface="Arial"/>
              <a:cs typeface="Arial"/>
            </a:endParaRPr>
          </a:p>
          <a:p>
            <a:pPr marL="457200" lvl="0" indent="-3111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pPr>
            <a:r>
              <a:rPr lang="ru" sz="1300">
                <a:latin typeface="Arial"/>
                <a:ea typeface="Arial"/>
                <a:cs typeface="Arial"/>
              </a:rPr>
              <a:t>Уровни моделирования: </a:t>
            </a:r>
            <a:r>
              <a:rPr lang="ru" sz="1300" b="1">
                <a:latin typeface="Arial"/>
                <a:ea typeface="Arial"/>
                <a:cs typeface="Arial"/>
              </a:rPr>
              <a:t>контекстный (A-0)</a:t>
            </a:r>
            <a:r>
              <a:rPr lang="ru" sz="1300">
                <a:latin typeface="Arial"/>
                <a:ea typeface="Arial"/>
                <a:cs typeface="Arial"/>
              </a:rPr>
              <a:t> и </a:t>
            </a:r>
            <a:r>
              <a:rPr lang="ru" sz="1300" b="1">
                <a:latin typeface="Arial"/>
                <a:ea typeface="Arial"/>
                <a:cs typeface="Arial"/>
              </a:rPr>
              <a:t>детализированный (A0)</a:t>
            </a:r>
            <a:br>
              <a:rPr lang="ru" sz="1300" b="1">
                <a:latin typeface="Arial"/>
                <a:ea typeface="Arial"/>
                <a:cs typeface="Arial"/>
              </a:rPr>
            </a:br>
            <a:endParaRPr sz="1300" b="1">
              <a:latin typeface="Arial"/>
              <a:ea typeface="Arial"/>
              <a:cs typeface="Arial"/>
            </a:endParaRPr>
          </a:p>
          <a:p>
            <a:pPr marL="457200" lvl="0" indent="-3111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pPr>
            <a:r>
              <a:rPr lang="ru" sz="1300">
                <a:latin typeface="Arial"/>
                <a:ea typeface="Arial"/>
                <a:cs typeface="Arial"/>
              </a:rPr>
              <a:t>CASE-средство: </a:t>
            </a:r>
            <a:r>
              <a:rPr lang="ru" sz="1300" b="1">
                <a:latin typeface="Arial"/>
                <a:ea typeface="Arial"/>
                <a:cs typeface="Arial"/>
              </a:rPr>
              <a:t>CA ERwin Process Modeler</a:t>
            </a:r>
            <a:endParaRPr sz="1800"/>
          </a:p>
        </p:txBody>
      </p:sp>
      <p:sp>
        <p:nvSpPr>
          <p:cNvPr id="1646811629" name="Google Shape;227;p39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593072" name="Google Shape;239;p41"/>
          <p:cNvSpPr txBox="1">
            <a:spLocks noGrp="1"/>
          </p:cNvSpPr>
          <p:nvPr>
            <p:ph type="title"/>
          </p:nvPr>
        </p:nvSpPr>
        <p:spPr bwMode="auto">
          <a:xfrm>
            <a:off x="457200" y="110875"/>
            <a:ext cx="7467600" cy="833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/>
            </a:pPr>
            <a:r>
              <a:rPr lang="ru" sz="2800"/>
              <a:t>Осн. процесс и внешн. сущности</a:t>
            </a:r>
            <a:endParaRPr sz="2800"/>
          </a:p>
        </p:txBody>
      </p:sp>
      <p:sp>
        <p:nvSpPr>
          <p:cNvPr id="152373147" name="Google Shape;240;p41"/>
          <p:cNvSpPr txBox="1">
            <a:spLocks noGrp="1"/>
          </p:cNvSpPr>
          <p:nvPr>
            <p:ph type="body" idx="1"/>
          </p:nvPr>
        </p:nvSpPr>
        <p:spPr bwMode="auto">
          <a:xfrm>
            <a:off x="457200" y="1211943"/>
            <a:ext cx="7467600" cy="344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b="1"/>
              <a:t>Основной процесс:</a:t>
            </a:r>
            <a:endParaRPr b="1"/>
          </a:p>
          <a:p>
            <a:pPr marL="457200" lvl="0" indent="-31750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400"/>
              <a:buFont typeface="Golos Text"/>
              <a:buChar char="●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Управлять погашением кредитной задолженности</a:t>
            </a:r>
            <a:endParaRPr/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b="1"/>
              <a:t>Внешние сущности:</a:t>
            </a:r>
            <a:endParaRPr b="1"/>
          </a:p>
          <a:p>
            <a:pPr marL="457200" lvl="0" indent="-31750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pPr>
            <a:r>
              <a:rPr lang="ru" u="sng"/>
              <a:t>Заемщик</a:t>
            </a:r>
            <a:r>
              <a:rPr lang="ru"/>
              <a:t> — подает заявку, вносит платежи, получает уведомления</a:t>
            </a:r>
            <a:br>
              <a:rPr lang="ru"/>
            </a:br>
            <a:endParaRPr/>
          </a:p>
          <a:p>
            <a:pPr marL="457200" lvl="0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pPr>
            <a:r>
              <a:rPr lang="ru" sz="1400" b="0" i="0" u="sng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Сотрудник кредитного отдела</a:t>
            </a:r>
            <a:r>
              <a:rPr lang="ru"/>
              <a:t>— регистрирует договоры, анализирует выплаты</a:t>
            </a:r>
            <a:br>
              <a:rPr lang="ru"/>
            </a:br>
            <a:endParaRPr/>
          </a:p>
          <a:p>
            <a:pPr marL="457200" lvl="0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pPr>
            <a:r>
              <a:rPr lang="ru" sz="1400" b="0" i="0" u="sng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Администратор системы</a:t>
            </a:r>
            <a:r>
              <a:rPr lang="ru"/>
              <a:t> — контролирует соблюдение сроков выплат</a:t>
            </a:r>
            <a:br>
              <a:rPr lang="ru"/>
            </a:br>
            <a:endParaRPr/>
          </a:p>
          <a:p>
            <a:pPr marL="457200" lvl="0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pPr>
            <a:r>
              <a:rPr lang="ru" sz="1400" b="0" i="0" u="sng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Почтовый сервис</a:t>
            </a:r>
            <a:r>
              <a:rPr lang="ru"/>
              <a:t> — осуществляет отправку уведомлении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64949276" name="Google Shape;241;p41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324945" name="Google Shape;253;p43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" sz="290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Контекстная диаграмма уровня А-0</a:t>
            </a:r>
            <a:endParaRPr/>
          </a:p>
        </p:txBody>
      </p:sp>
      <p:sp>
        <p:nvSpPr>
          <p:cNvPr id="1492189306" name="Google Shape;255;p43"/>
          <p:cNvSpPr txBox="1"/>
          <p:nvPr/>
        </p:nvSpPr>
        <p:spPr bwMode="auto">
          <a:xfrm>
            <a:off x="6656300" y="1742850"/>
            <a:ext cx="2660400" cy="1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" sz="2900" b="1">
                <a:solidFill>
                  <a:schemeClr val="dk2"/>
                </a:solidFill>
              </a:rPr>
              <a:t>Контекстная диаграмма уровня А-0</a:t>
            </a:r>
            <a:endParaRPr sz="2900" b="1">
              <a:solidFill>
                <a:srgbClr val="FFFFFF"/>
              </a:solidFill>
            </a:endParaRPr>
          </a:p>
        </p:txBody>
      </p:sp>
      <p:sp>
        <p:nvSpPr>
          <p:cNvPr id="1373740484" name="Google Shape;256;p43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6</a:t>
            </a:fld>
            <a:endParaRPr/>
          </a:p>
        </p:txBody>
      </p:sp>
      <p:pic>
        <p:nvPicPr>
          <p:cNvPr id="3" name="Picture 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96ECC28A-7C12-9680-2C98-F06623A7A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9768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493" name="Google Shape;268;p45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" sz="290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Контекстная диаграмма уровня А-0</a:t>
            </a:r>
            <a:endParaRPr/>
          </a:p>
        </p:txBody>
      </p:sp>
      <p:sp>
        <p:nvSpPr>
          <p:cNvPr id="1215027580" name="Google Shape;269;p45"/>
          <p:cNvSpPr txBox="1"/>
          <p:nvPr/>
        </p:nvSpPr>
        <p:spPr bwMode="auto">
          <a:xfrm>
            <a:off x="6656300" y="1742850"/>
            <a:ext cx="2660400" cy="1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" sz="2900" b="1">
                <a:solidFill>
                  <a:schemeClr val="dk2"/>
                </a:solidFill>
              </a:rPr>
              <a:t>Контекстная диаграмма уровня А0</a:t>
            </a:r>
            <a:endParaRPr sz="2900" b="1">
              <a:solidFill>
                <a:srgbClr val="FFFFFF"/>
              </a:solidFill>
            </a:endParaRPr>
          </a:p>
        </p:txBody>
      </p:sp>
      <p:sp>
        <p:nvSpPr>
          <p:cNvPr id="1814079081" name="Google Shape;271;p45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7</a:t>
            </a:fld>
            <a:endParaRPr/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5876713A-C6BE-7E00-F564-4A5AE754D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0348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412155" name="Google Shape;261;p44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400" cy="52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Матрица списка событий</a:t>
            </a:r>
            <a:endParaRPr/>
          </a:p>
        </p:txBody>
      </p:sp>
      <p:graphicFrame>
        <p:nvGraphicFramePr>
          <p:cNvPr id="1300115097" name="Google Shape;262;p44"/>
          <p:cNvGraphicFramePr>
            <a:graphicFrameLocks/>
          </p:cNvGraphicFramePr>
          <p:nvPr/>
        </p:nvGraphicFramePr>
        <p:xfrm>
          <a:off x="560850" y="1087125"/>
          <a:ext cx="6602949" cy="3662727"/>
        </p:xfrm>
        <a:graphic>
          <a:graphicData uri="http://schemas.openxmlformats.org/drawingml/2006/table">
            <a:tbl>
              <a:tblPr>
                <a:tableStyleId>{F881D1D8-8919-4FED-BC73-B33F8442779F}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2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51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1"/>
                        <a:t>Процесс</a:t>
                      </a:r>
                      <a:endParaRPr sz="1200" b="1"/>
                    </a:p>
                  </a:txBody>
                  <a:tcPr marL="91425" marR="91425" marT="91425" marB="91425">
                    <a:lnR w="9525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1"/>
                        <a:t>Событие</a:t>
                      </a:r>
                      <a:endParaRPr sz="1200" b="1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  <a:lnR w="9525" algn="ctr">
                      <a:solidFill>
                        <a:srgbClr val="9E9E9E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1"/>
                        <a:t>Вход</a:t>
                      </a:r>
                      <a:endParaRPr sz="1200" b="1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1"/>
                        <a:t>Выход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93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/>
                        <a:t>A</a:t>
                      </a:r>
                      <a:r>
                        <a:rPr lang="ru-RU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lnR w="9525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Заключен кредитный договор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  <a:lnR w="9525" algn="ctr">
                      <a:solidFill>
                        <a:srgbClr val="9E9E9E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Данные заемщика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Договор зарегистрирован в журнале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66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/>
                        <a:t>A</a:t>
                      </a:r>
                      <a:r>
                        <a:rPr lang="ru-RU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lnR w="9525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Определены параметры кредита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  <a:lnR w="9525" algn="ctr">
                      <a:solidFill>
                        <a:srgbClr val="9E9E9E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Условия кредитного договора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Сформирован график выплат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336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/>
                        <a:t>A</a:t>
                      </a:r>
                      <a:r>
                        <a:rPr lang="ru-RU" sz="1200"/>
                        <a:t>4</a:t>
                      </a:r>
                      <a:endParaRPr sz="1200"/>
                    </a:p>
                  </a:txBody>
                  <a:tcPr marL="91425" marR="91425" marT="91425" marB="91425">
                    <a:lnR w="9525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Поступил платеж от заемщика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  <a:lnR w="9525" algn="ctr">
                      <a:solidFill>
                        <a:srgbClr val="9E9E9E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Данные платежа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Платеж учтен в реестре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98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/>
                        <a:t>A</a:t>
                      </a:r>
                      <a:r>
                        <a:rPr lang="ru-RU" sz="1200"/>
                        <a:t>4</a:t>
                      </a:r>
                      <a:endParaRPr sz="1200"/>
                    </a:p>
                  </a:txBody>
                  <a:tcPr marL="91425" marR="91425" marT="91425" marB="91425">
                    <a:lnR w="9525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Обнаружена просрочка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  <a:lnR w="9525" algn="ctr">
                      <a:solidFill>
                        <a:srgbClr val="9E9E9E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Плановый платеж и дата оплаты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Начислена пеня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33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/>
                        <a:t>А5</a:t>
                      </a:r>
                      <a:endParaRPr sz="1200"/>
                    </a:p>
                  </a:txBody>
                  <a:tcPr marL="91424" marR="91424" marT="91424" marB="91424">
                    <a:lnR w="9524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Получен запрос заемщика</a:t>
                      </a:r>
                      <a:endParaRPr sz="1200"/>
                    </a:p>
                  </a:txBody>
                  <a:tcPr marL="91424" marR="91424" marT="91424" marB="91424">
                    <a:lnL w="9524" algn="ctr">
                      <a:solidFill>
                        <a:srgbClr val="9E9E9E"/>
                      </a:solidFill>
                    </a:lnL>
                    <a:lnR w="9524" algn="ctr">
                      <a:solidFill>
                        <a:srgbClr val="9E9E9E"/>
                      </a:solidFill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Запрос о состоянии задолженнос</a:t>
                      </a:r>
                      <a:r>
                        <a:rPr lang="ru-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endParaRPr sz="1200"/>
                    </a:p>
                  </a:txBody>
                  <a:tcPr marL="91424" marR="91424" marT="91424" marB="91424">
                    <a:lnL w="9524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Сформировано уведомление</a:t>
                      </a:r>
                      <a:endParaRPr sz="1200"/>
                    </a:p>
                  </a:txBody>
                  <a:tcPr marL="91424" marR="91424" marT="91424" marB="9142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84009958" name="Google Shape;263;p44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418433" name="Google Shape;276;p46"/>
          <p:cNvSpPr txBox="1">
            <a:spLocks noGrp="1"/>
          </p:cNvSpPr>
          <p:nvPr>
            <p:ph type="title"/>
          </p:nvPr>
        </p:nvSpPr>
        <p:spPr bwMode="auto">
          <a:xfrm>
            <a:off x="457200" y="306435"/>
            <a:ext cx="6824400" cy="52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Выводы</a:t>
            </a:r>
            <a:endParaRPr/>
          </a:p>
        </p:txBody>
      </p:sp>
      <p:sp>
        <p:nvSpPr>
          <p:cNvPr id="712300571" name="Google Shape;278;p46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9</a:t>
            </a:fld>
            <a:endParaRPr/>
          </a:p>
        </p:txBody>
      </p:sp>
      <p:sp>
        <p:nvSpPr>
          <p:cNvPr id="55142733" name="TextBox 55142732"/>
          <p:cNvSpPr txBox="1"/>
          <p:nvPr/>
        </p:nvSpPr>
        <p:spPr bwMode="auto">
          <a:xfrm>
            <a:off x="723258" y="1248103"/>
            <a:ext cx="5874455" cy="2332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39821" indent="-239821">
              <a:lnSpc>
                <a:spcPct val="150000"/>
              </a:lnSpc>
              <a:buFont typeface="Arial"/>
              <a:buChar char="•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Разработана функциональная модель АИС для компании «КредитСофт»</a:t>
            </a:r>
            <a:endParaRPr sz="14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239821" indent="-239821">
              <a:lnSpc>
                <a:spcPct val="150000"/>
              </a:lnSpc>
              <a:buFont typeface="Arial"/>
              <a:buChar char="•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Определены основные процессы и потоки данных</a:t>
            </a:r>
            <a:endParaRPr sz="14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239821" indent="-239821">
              <a:lnSpc>
                <a:spcPct val="150000"/>
              </a:lnSpc>
              <a:buFont typeface="Arial"/>
              <a:buChar char="•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Выполнена декомпозиция A-0 → A0</a:t>
            </a:r>
            <a:endParaRPr sz="14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239821" indent="-239821">
              <a:lnSpc>
                <a:spcPct val="150000"/>
              </a:lnSpc>
              <a:buFont typeface="Arial"/>
              <a:buChar char="•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Обеспечена логическая согласованность модели</a:t>
            </a:r>
            <a:endParaRPr sz="14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239821" indent="-239821">
              <a:lnSpc>
                <a:spcPct val="150000"/>
              </a:lnSpc>
              <a:buFont typeface="Arial"/>
              <a:buChar char="•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Предложенное решение автоматизирует контроль кредитных выплат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100779" name="Google Shape;283;p47"/>
          <p:cNvSpPr txBox="1">
            <a:spLocks noGrp="1"/>
          </p:cNvSpPr>
          <p:nvPr>
            <p:ph type="title"/>
          </p:nvPr>
        </p:nvSpPr>
        <p:spPr bwMode="auto"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  <a:defRPr/>
            </a:pPr>
            <a:r>
              <a:rPr lang="ru" sz="4400"/>
              <a:t>Спасибо</a:t>
            </a:r>
            <a:br>
              <a:rPr lang="ru" sz="4400"/>
            </a:br>
            <a:r>
              <a:rPr lang="ru" sz="4400"/>
              <a:t>за внимание!</a:t>
            </a:r>
            <a:endParaRPr sz="4400"/>
          </a:p>
        </p:txBody>
      </p:sp>
      <p:sp>
        <p:nvSpPr>
          <p:cNvPr id="1016449867" name="Google Shape;284;p47"/>
          <p:cNvSpPr txBox="1"/>
          <p:nvPr/>
        </p:nvSpPr>
        <p:spPr bwMode="auto">
          <a:xfrm>
            <a:off x="6517550" y="4343100"/>
            <a:ext cx="2626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0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Обратная связь: </a:t>
            </a:r>
            <a:endParaRPr sz="2000">
              <a:solidFill>
                <a:schemeClr val="lt1"/>
              </a:solidFill>
              <a:latin typeface="Golos Text"/>
              <a:ea typeface="Golos Text"/>
              <a:cs typeface="Golos Tex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0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@nikkita_m</a:t>
            </a:r>
            <a:endParaRPr sz="2000">
              <a:solidFill>
                <a:schemeClr val="lt1"/>
              </a:solidFill>
              <a:latin typeface="Golos Text"/>
              <a:ea typeface="Golos Text"/>
              <a:cs typeface="Golos Text"/>
            </a:endParaRPr>
          </a:p>
        </p:txBody>
      </p:sp>
      <p:sp>
        <p:nvSpPr>
          <p:cNvPr id="1578255609" name="Google Shape;285;p47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10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</Words>
  <Application>Microsoft Office PowerPoint</Application>
  <PresentationFormat>On-screen Show (16:9)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Golos Text SemiBold</vt:lpstr>
      <vt:lpstr>Calibri</vt:lpstr>
      <vt:lpstr>Golos Text</vt:lpstr>
      <vt:lpstr>Arial</vt:lpstr>
      <vt:lpstr>Simple Light</vt:lpstr>
      <vt:lpstr>Тема1</vt:lpstr>
      <vt:lpstr>Проектирование функциональной модели АИС для управления кредитной задолженностью банка</vt:lpstr>
      <vt:lpstr>Описание предметной области</vt:lpstr>
      <vt:lpstr>Цель и задача проекта</vt:lpstr>
      <vt:lpstr>Методы и средства реализации</vt:lpstr>
      <vt:lpstr>Осн. процесс и внешн. сущности</vt:lpstr>
      <vt:lpstr>Контекстная диаграмма уровня А-0</vt:lpstr>
      <vt:lpstr>Контекстная диаграмма уровня А-0</vt:lpstr>
      <vt:lpstr>Матрица списка событий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nick</cp:lastModifiedBy>
  <cp:revision>1</cp:revision>
  <dcterms:modified xsi:type="dcterms:W3CDTF">2026-02-24T13:48:40Z</dcterms:modified>
</cp:coreProperties>
</file>